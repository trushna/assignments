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Patni" userId="92fb5b90577f6ae3" providerId="LiveId" clId="{DEDF1737-4FA0-4449-BF72-102B22903775}"/>
    <pc:docChg chg="delSld">
      <pc:chgData name="Amit Patni" userId="92fb5b90577f6ae3" providerId="LiveId" clId="{DEDF1737-4FA0-4449-BF72-102B22903775}" dt="2026-05-14T10:04:22.969" v="0" actId="2696"/>
      <pc:docMkLst>
        <pc:docMk/>
      </pc:docMkLst>
      <pc:sldChg chg="del">
        <pc:chgData name="Amit Patni" userId="92fb5b90577f6ae3" providerId="LiveId" clId="{DEDF1737-4FA0-4449-BF72-102B22903775}" dt="2026-05-14T10:04:22.969" v="0" actId="2696"/>
        <pc:sldMkLst>
          <pc:docMk/>
          <pc:sldMk cId="983073354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949A-8A81-E133-756F-D5AE5B04B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D0E6D-418B-E0CF-66FD-22D1672BA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AE169-4781-36FF-EF38-7030195B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B6074-F1F5-FAC7-B274-11F233F8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2CE0F-61F1-2B7A-2444-EB1CF84F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0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5E91-22F9-FE3C-51FF-CBC7AEF7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D7C63-9D1F-570D-0B3D-D8DF66B9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67CAB-91F2-34B8-95BA-84053476A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C66EE-2737-20B0-50A8-6A33F08C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CBF63-845D-3F2F-055E-84B7446B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40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8B52-E77B-A786-DFC9-4A3D046B8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900F-FEA7-CA39-31A9-4AC8B8102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390BC-1BA3-A01A-F893-145F7F45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D173B-B1C2-2369-1C5D-02286D99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F795B-17A7-76E6-D3B2-E576171D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8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4FBE-D49E-EB5E-5065-BF26CA0C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12AB-2D69-6741-6D35-46EA84E43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B3A0E-A4E1-1E9D-7347-49AF9787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A7594-C40C-838E-934B-5C617C58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89E2E-4FF1-EBFB-33A8-F3478DB7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74969-D25C-C2AA-9E16-840DC635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4DF7-0CA4-B525-259F-70CEDA56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C5681-9EF8-9513-7887-D567A5682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33A37-4567-CD5C-304E-35089AF4D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4862A1-4AD4-3C02-263A-7D0EF62AA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4204D1-4595-188C-407B-FF51DA0D7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0D3BE-50AA-388B-8731-6D9A8E48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63D20-694B-E28E-E4FF-9EB3BEFB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A2A2A-AFB1-D14D-8AA0-126955F4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69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C07E-4782-1AEC-9A48-051471DD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6F241-9079-7AA0-E7BD-23D60642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6EE60-96EF-8325-A2CE-B8A341C7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E7124-75BD-9A7C-B66E-6DA50361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6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F136FF-E927-F1CA-CB51-3F18F7ED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34B8B-5A5F-D6A9-8C2E-CAE44C7A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A16EA-5690-CC6C-9656-84FEAF06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1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E969-3345-4324-CFA9-767B12F2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35544-4E84-E831-1843-BCD00F40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540A4-0719-AB89-3FDD-57B29AD80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0A3D7-C52D-5805-FAFA-E12683A1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E9317-B7D2-FC48-737B-FED08511B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88EAA-C8BF-A318-EE4F-49653EA7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038A-8F58-DC44-9150-69FFB161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EE3C2-3996-8992-4B1E-396B7C282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DADAF-1993-6F81-4345-12E607D89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93C2D-B9A7-708E-4F7F-1FB99879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B7E5F-569E-9625-5746-253CF7FD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32D60-8320-2380-B07E-D1F11F52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90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CAE0-3B49-7F38-965D-DD2AD975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0FFDE-DDC4-F701-1016-EF7427FA3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6979-FB8F-35FD-9F85-BCD1C66C2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4C5EB-B1F0-3B83-2973-71CB797C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B4238-9931-B01E-F7C3-F15729A3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1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5E02ED-3D58-915F-FD83-D194CBD47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7F09C-07A8-F5DF-B51C-2BE3D0EFF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D118C-27D9-6EB4-DDC6-0BC189561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C2614-4982-228F-FFB9-86241067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5DC15-C46A-F26F-0C6F-05C7EC31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7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A16DC-CD05-28ED-D936-07C3E974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E5A92-9021-EBF2-4830-ED6AB3DCF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4E50-9502-BB2A-1873-CC4891080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7DC66-147F-4FB7-BD2A-45ABEC933B98}" type="datetimeFigureOut">
              <a:rPr lang="en-US" smtClean="0"/>
              <a:t>14-May-26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8DDF-99E1-8C0C-28D5-E10F10BC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2A46E-21A9-3DA9-829F-9F62ADFC6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E2067-BAE2-435C-9D6F-46C054B3A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1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2005-C0EC-77AF-54A2-1EF2177E3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E-Commerce Automation Framework for </a:t>
            </a:r>
            <a:r>
              <a:rPr lang="en-US" dirty="0" err="1"/>
              <a:t>FirstCry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C9E2D-EAB3-585A-69DD-55B09E332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Automated Testing of Search, Filter, Sort, and Cart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408745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9126-A102-52F6-329F-4E632747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&amp;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1FD17-6020-9C4D-35C5-7B0A9A38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 To automate the End-to-End (E2E) flow of finding and adding a product to the cart.</a:t>
            </a:r>
          </a:p>
          <a:p>
            <a:r>
              <a:rPr lang="en-US" b="1" dirty="0"/>
              <a:t>Key Scenarios:</a:t>
            </a:r>
            <a:endParaRPr lang="en-US" dirty="0"/>
          </a:p>
          <a:p>
            <a:pPr lvl="1"/>
            <a:r>
              <a:rPr lang="en-US" dirty="0"/>
              <a:t>Dynamic Search functionality.</a:t>
            </a:r>
          </a:p>
          <a:p>
            <a:pPr lvl="1"/>
            <a:r>
              <a:rPr lang="en-US" dirty="0"/>
              <a:t>Multi-layered filtering (Type &amp; Sleeve Length).</a:t>
            </a:r>
          </a:p>
          <a:p>
            <a:pPr lvl="1"/>
            <a:r>
              <a:rPr lang="en-US" dirty="0"/>
              <a:t>Price-based sorting (Low to High).</a:t>
            </a:r>
          </a:p>
          <a:p>
            <a:pPr lvl="1"/>
            <a:r>
              <a:rPr lang="en-US" dirty="0"/>
              <a:t>Data consistency check between Listing and Detail pages.</a:t>
            </a:r>
          </a:p>
          <a:p>
            <a:pPr lvl="1"/>
            <a:r>
              <a:rPr lang="en-US" dirty="0"/>
              <a:t>Cart validation using POM.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37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3679-7BB9-8D95-FE65-AE6495E5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Technical Architecture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66767-A55F-C7DB-E4FE-5B48E01DB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Framework:</a:t>
            </a:r>
            <a:r>
              <a:rPr lang="en-US" dirty="0"/>
              <a:t> Page Object Model (POM) – No Page Factory.</a:t>
            </a:r>
          </a:p>
          <a:p>
            <a:r>
              <a:rPr lang="en-US" b="1" dirty="0"/>
              <a:t>Language:</a:t>
            </a:r>
            <a:r>
              <a:rPr lang="en-US" dirty="0"/>
              <a:t> Java 8+.</a:t>
            </a:r>
          </a:p>
          <a:p>
            <a:r>
              <a:rPr lang="en-US" b="1" dirty="0"/>
              <a:t>Test Runner:</a:t>
            </a:r>
            <a:r>
              <a:rPr lang="en-US" dirty="0"/>
              <a:t> TestNG (using testng.xml for suite execution).</a:t>
            </a:r>
          </a:p>
          <a:p>
            <a:r>
              <a:rPr lang="en-US" b="1" dirty="0"/>
              <a:t>Build Tool:</a:t>
            </a:r>
            <a:r>
              <a:rPr lang="en-US" dirty="0"/>
              <a:t> Maven (Dependencies: Selenium, TestNG, Allure-Selenium).</a:t>
            </a:r>
          </a:p>
          <a:p>
            <a:r>
              <a:rPr lang="en-US" b="1" dirty="0"/>
              <a:t>Reports:</a:t>
            </a:r>
            <a:r>
              <a:rPr lang="en-US" dirty="0"/>
              <a:t> Allure Report (for rich visual evidence and step-by-step logs).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0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4D98-1390-DEE4-ADB2-04D7B354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Framework Structure (POM)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E7C1-59D8-2DAD-E84B-87815E5F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/main/java (Pages):</a:t>
            </a:r>
            <a:endParaRPr lang="en-US" dirty="0"/>
          </a:p>
          <a:p>
            <a:pPr lvl="1"/>
            <a:r>
              <a:rPr lang="en-US" dirty="0"/>
              <a:t>HomePage.java: Search actions.</a:t>
            </a:r>
          </a:p>
          <a:p>
            <a:pPr lvl="1"/>
            <a:r>
              <a:rPr lang="en-US" dirty="0"/>
              <a:t>ListingPage.java: Filtering and Sorting logic.</a:t>
            </a:r>
          </a:p>
          <a:p>
            <a:pPr lvl="1"/>
            <a:r>
              <a:rPr lang="en-US" dirty="0"/>
              <a:t>ProductDetailPage.java: "Add to Cart" and price verification.</a:t>
            </a:r>
          </a:p>
          <a:p>
            <a:r>
              <a:rPr lang="en-US" b="1" dirty="0" err="1"/>
              <a:t>src</a:t>
            </a:r>
            <a:r>
              <a:rPr lang="en-US" b="1" dirty="0"/>
              <a:t>/test/java (Tests):</a:t>
            </a:r>
            <a:endParaRPr lang="en-US" dirty="0"/>
          </a:p>
          <a:p>
            <a:pPr lvl="1"/>
            <a:r>
              <a:rPr lang="en-US" dirty="0"/>
              <a:t>SearchAndCartTest.java: Orchestrates the scenario using @Test annotations.</a:t>
            </a:r>
          </a:p>
          <a:p>
            <a:r>
              <a:rPr lang="en-US" b="1" dirty="0"/>
              <a:t>Resources:</a:t>
            </a:r>
            <a:r>
              <a:rPr lang="en-US" dirty="0"/>
              <a:t> </a:t>
            </a:r>
            <a:r>
              <a:rPr lang="en-US" dirty="0" err="1"/>
              <a:t>allure.properties</a:t>
            </a:r>
            <a:r>
              <a:rPr lang="en-US" dirty="0"/>
              <a:t>, </a:t>
            </a:r>
            <a:r>
              <a:rPr lang="en-US" dirty="0" err="1"/>
              <a:t>config.properties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88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2CA4-AEE0-2D2C-B720-0AC99DD6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Handling Dynamic UI Challenges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466F7-C29E-488A-6314-D9C2652F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Wait Strategy:</a:t>
            </a:r>
            <a:r>
              <a:rPr lang="en-US" dirty="0"/>
              <a:t> Implemented </a:t>
            </a:r>
            <a:r>
              <a:rPr lang="en-US" b="1" dirty="0"/>
              <a:t>Explicit Waits</a:t>
            </a:r>
            <a:r>
              <a:rPr lang="en-US" dirty="0"/>
              <a:t> (</a:t>
            </a:r>
            <a:r>
              <a:rPr lang="en-US" dirty="0" err="1"/>
              <a:t>WebDriverWait</a:t>
            </a:r>
            <a:r>
              <a:rPr lang="en-US" dirty="0"/>
              <a:t>) to handle AJAX-based filtering on </a:t>
            </a:r>
            <a:r>
              <a:rPr lang="en-US" dirty="0" err="1"/>
              <a:t>FirstCry</a:t>
            </a:r>
            <a:r>
              <a:rPr lang="en-US" dirty="0"/>
              <a:t>.</a:t>
            </a:r>
          </a:p>
          <a:p>
            <a:r>
              <a:rPr lang="en-US" b="1" dirty="0"/>
              <a:t>Stale Element Handling:</a:t>
            </a:r>
            <a:r>
              <a:rPr lang="en-US" dirty="0"/>
              <a:t> Addressed </a:t>
            </a:r>
            <a:r>
              <a:rPr lang="en-US" dirty="0" err="1"/>
              <a:t>StaleElementReferenceException</a:t>
            </a:r>
            <a:r>
              <a:rPr lang="en-US" dirty="0"/>
              <a:t> by re-locating elements within methods after page refreshes.</a:t>
            </a:r>
          </a:p>
          <a:p>
            <a:r>
              <a:rPr lang="en-US" b="1" dirty="0"/>
              <a:t>Clean Assertions:</a:t>
            </a:r>
            <a:r>
              <a:rPr lang="en-US" dirty="0"/>
              <a:t> Used Regex to strip text from the cart badge (e.g., converting "1 Cart" to "1") for accurate validation.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66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6F29-442C-9B52-7598-3D99ECBF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Reporting - Allure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310FD-E74A-A796-4943-635D3B5E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Feature Highlights:</a:t>
            </a:r>
            <a:endParaRPr lang="en-US" dirty="0"/>
          </a:p>
          <a:p>
            <a:pPr lvl="1"/>
            <a:r>
              <a:rPr lang="en-US" b="1" dirty="0"/>
              <a:t>@Step Annotations:</a:t>
            </a:r>
            <a:r>
              <a:rPr lang="en-US" dirty="0"/>
              <a:t> Every user action is logged in the report.</a:t>
            </a:r>
          </a:p>
          <a:p>
            <a:pPr lvl="1"/>
            <a:r>
              <a:rPr lang="en-US" b="1" dirty="0"/>
              <a:t>Screenshots:</a:t>
            </a:r>
            <a:r>
              <a:rPr lang="en-US" dirty="0"/>
              <a:t> Automatic capture on test failure.</a:t>
            </a:r>
          </a:p>
          <a:p>
            <a:pPr lvl="1"/>
            <a:r>
              <a:rPr lang="en-US" b="1" dirty="0"/>
              <a:t>Trends:</a:t>
            </a:r>
            <a:r>
              <a:rPr lang="en-US" dirty="0"/>
              <a:t> View pass/fail history across multiple runs.</a:t>
            </a:r>
          </a:p>
          <a:p>
            <a:pPr lvl="1"/>
            <a:r>
              <a:rPr lang="en-US" b="1" dirty="0"/>
              <a:t>Environment Details:</a:t>
            </a:r>
            <a:r>
              <a:rPr lang="en-US" dirty="0"/>
              <a:t> Captures Browser, OS, and Java version.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8249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941A-1A4D-A307-6181-6B8AC5E5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Execution Flow (Step-by-Step)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3C90E-5ADE-01D9-B06A-FCF59AE6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Search:</a:t>
            </a:r>
            <a:r>
              <a:rPr lang="en-US" dirty="0"/>
              <a:t> "T-shirts for Boys" entered.</a:t>
            </a:r>
          </a:p>
          <a:p>
            <a:r>
              <a:rPr lang="en-US" b="1" dirty="0"/>
              <a:t>Filter:</a:t>
            </a:r>
            <a:r>
              <a:rPr lang="en-US" dirty="0"/>
              <a:t> "Winter T-Shirts" &amp; "Half Sleeves" selected sequentially.</a:t>
            </a:r>
          </a:p>
          <a:p>
            <a:r>
              <a:rPr lang="en-US" b="1" dirty="0"/>
              <a:t>Validate:</a:t>
            </a:r>
            <a:r>
              <a:rPr lang="en-US" dirty="0"/>
              <a:t> Filter count check ("8 Items").</a:t>
            </a:r>
          </a:p>
          <a:p>
            <a:r>
              <a:rPr lang="en-US" b="1" dirty="0"/>
              <a:t>Sort:</a:t>
            </a:r>
            <a:r>
              <a:rPr lang="en-US" dirty="0"/>
              <a:t> Price: Low to High.</a:t>
            </a:r>
          </a:p>
          <a:p>
            <a:r>
              <a:rPr lang="en-US" b="1" dirty="0"/>
              <a:t>Sync:</a:t>
            </a:r>
            <a:r>
              <a:rPr lang="en-US" dirty="0"/>
              <a:t> Product details verified from Listing → Detail Page.</a:t>
            </a:r>
          </a:p>
          <a:p>
            <a:r>
              <a:rPr lang="en-US" b="1" dirty="0"/>
              <a:t>Cart:</a:t>
            </a:r>
            <a:r>
              <a:rPr lang="en-US" dirty="0"/>
              <a:t> Add to Cart clicked and badge verified.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88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1511-CDC6-5A73-53B0-D4C5F652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125F4-3F96-DC42-F514-D0CF98415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the </a:t>
            </a:r>
            <a:r>
              <a:rPr lang="en-US" dirty="0" err="1"/>
              <a:t>xpath</a:t>
            </a:r>
            <a:endParaRPr lang="en-US" dirty="0"/>
          </a:p>
          <a:p>
            <a:r>
              <a:rPr lang="en-US" dirty="0"/>
              <a:t>Geeting the exception like steal element</a:t>
            </a:r>
          </a:p>
        </p:txBody>
      </p:sp>
    </p:spTree>
    <p:extLst>
      <p:ext uri="{BB962C8B-B14F-4D97-AF65-F5344CB8AC3E}">
        <p14:creationId xmlns:p14="http://schemas.microsoft.com/office/powerpoint/2010/main" val="394463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413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E-Commerce Automation Framework for FirstCry  </vt:lpstr>
      <vt:lpstr>Objectives &amp; Scope</vt:lpstr>
      <vt:lpstr> Technical Architecture  </vt:lpstr>
      <vt:lpstr>Framework Structure (POM)  </vt:lpstr>
      <vt:lpstr>Handling Dynamic UI Challenges  </vt:lpstr>
      <vt:lpstr>Reporting - Allure Integration</vt:lpstr>
      <vt:lpstr> Execution Flow (Step-by-Step) </vt:lpstr>
      <vt:lpstr>Challenges Faced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Patni</dc:creator>
  <cp:lastModifiedBy>Amit Patni</cp:lastModifiedBy>
  <cp:revision>1</cp:revision>
  <dcterms:created xsi:type="dcterms:W3CDTF">2026-04-28T15:38:34Z</dcterms:created>
  <dcterms:modified xsi:type="dcterms:W3CDTF">2026-05-14T10:04:30Z</dcterms:modified>
</cp:coreProperties>
</file>